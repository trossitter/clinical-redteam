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60704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200" b="1" i="0">
                <a:solidFill>
                  <a:srgbClr val="FFFFFF"/>
                </a:solidFill>
              </a:rPr>
              <a:t>AgentForge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606040"/>
            <a:ext cx="106070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0" i="0">
                <a:solidFill>
                  <a:srgbClr val="4A9EFF"/>
                </a:solidFill>
              </a:rPr>
              <a:t>Adversarial AI Security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46120"/>
            <a:ext cx="106070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700" b="0" i="0">
                <a:solidFill>
                  <a:srgbClr val="B0C4DE"/>
                </a:solidFill>
              </a:rPr>
              <a:t>Continuous multi-agent red-teaming for AI-assisted clinical workflows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0" y="3977639"/>
            <a:ext cx="5760720" cy="3657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4114800"/>
            <a:ext cx="10607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 i="0">
                <a:solidFill>
                  <a:srgbClr val="B0C4DE"/>
                </a:solidFill>
              </a:rPr>
              <a:t>Gauntlet AI  ·  Week 3  ·  May 11,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663440"/>
            <a:ext cx="10607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0" i="0">
                <a:solidFill>
                  <a:srgbClr val="B0C4DE"/>
                </a:solidFill>
              </a:rPr>
              <a:t>github.com/trossitter/clinical-redteam  ·  clinicalcopilot.org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166360"/>
            <a:ext cx="10607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 i="1">
                <a:solidFill>
                  <a:srgbClr val="51CF66"/>
                </a:solidFill>
              </a:rPr>
              <a:t>Target confirmed live  ·  Demo mode (no real PHI)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28016"/>
            <a:ext cx="7315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 i="0">
                <a:solidFill>
                  <a:srgbClr val="4A9EFF"/>
                </a:solidFill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28016"/>
            <a:ext cx="2377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B0C4DE"/>
                </a:solidFill>
              </a:rPr>
              <a:t>May 11,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11480"/>
            <a:ext cx="114300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Static security testing doesn't work for evolving AI systems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80160"/>
            <a:ext cx="11430000" cy="1234440"/>
          </a:xfrm>
          <a:prstGeom prst="rect">
            <a:avLst/>
          </a:prstGeom>
          <a:solidFill>
            <a:srgbClr val="1A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280160"/>
            <a:ext cx="64008" cy="123444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353312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 i="0">
                <a:solidFill>
                  <a:srgbClr val="FF6B6B"/>
                </a:solidFill>
              </a:rPr>
              <a:t>Static attack lists go stale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764792"/>
            <a:ext cx="1069848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Attackers adapt. A blocked payload today works tomorrow with a small variant. A test suite that never mutates is a false sense of security.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606039"/>
            <a:ext cx="11430000" cy="1234440"/>
          </a:xfrm>
          <a:prstGeom prst="rect">
            <a:avLst/>
          </a:prstGeom>
          <a:solidFill>
            <a:srgbClr val="1A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2606039"/>
            <a:ext cx="64008" cy="1234440"/>
          </a:xfrm>
          <a:prstGeom prst="rect">
            <a:avLst/>
          </a:prstGeom>
          <a:solidFill>
            <a:srgbClr val="FF9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679191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 i="0">
                <a:solidFill>
                  <a:srgbClr val="FF922B"/>
                </a:solidFill>
              </a:rPr>
              <a:t>Fixes are validated once and forgotten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090672"/>
            <a:ext cx="1069848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A patch blocks one attack. A slightly modified version bypasses it a week later. Vulnerabilities discovered during testing are difficult to reproduce consistently.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931920"/>
            <a:ext cx="11430000" cy="1234440"/>
          </a:xfrm>
          <a:prstGeom prst="rect">
            <a:avLst/>
          </a:prstGeom>
          <a:solidFill>
            <a:srgbClr val="1A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5760" y="3931920"/>
            <a:ext cx="64008" cy="1234440"/>
          </a:xfrm>
          <a:prstGeom prst="rect">
            <a:avLst/>
          </a:prstGeom>
          <a:solidFill>
            <a:srgbClr val="FFD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4005072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 i="0">
                <a:solidFill>
                  <a:srgbClr val="FFD43B"/>
                </a:solidFill>
              </a:rPr>
              <a:t>No visibility into coverage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4416552"/>
            <a:ext cx="1069848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It is often unclear which attack surfaces have been explored, which are succeeding, or whether the system is improving or regressing as changes are introduced.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5257800"/>
            <a:ext cx="11430000" cy="1234440"/>
          </a:xfrm>
          <a:prstGeom prst="rect">
            <a:avLst/>
          </a:prstGeom>
          <a:solidFill>
            <a:srgbClr val="1A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5760" y="5257800"/>
            <a:ext cx="64008" cy="1234440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5330952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 i="0">
                <a:solidFill>
                  <a:srgbClr val="4A9EFF"/>
                </a:solidFill>
              </a:rPr>
              <a:t>Manual testing cannot keep pace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742432"/>
            <a:ext cx="1069848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Continuous deployment creates continuous new attack surface. Human red-teamers cannot run exhaustive regression suites after every deploy.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CC5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28016"/>
            <a:ext cx="7315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 i="0">
                <a:solidFill>
                  <a:srgbClr val="4A9EFF"/>
                </a:solidFill>
              </a:rPr>
              <a:t>WHY MULTI-AGENT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28016"/>
            <a:ext cx="2377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B0C4DE"/>
                </a:solidFill>
              </a:rPr>
              <a:t>May 11,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11480"/>
            <a:ext cx="114300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A single agent that attacks and judges itself is compromised by design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80160"/>
            <a:ext cx="5394960" cy="5212080"/>
          </a:xfrm>
          <a:prstGeom prst="rect">
            <a:avLst/>
          </a:prstGeom>
          <a:solidFill>
            <a:srgbClr val="1A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280160"/>
            <a:ext cx="5394960" cy="64008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417320"/>
            <a:ext cx="5120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 i="0">
                <a:solidFill>
                  <a:srgbClr val="FF6B6B"/>
                </a:solidFill>
              </a:rPr>
              <a:t>Single Agent / Pipeline  —  What breaks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093976"/>
            <a:ext cx="64008" cy="64008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965960"/>
            <a:ext cx="4937759" cy="84124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Generates attacks AND evaluates them → self-serving bias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843784"/>
            <a:ext cx="64008" cy="64008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715768"/>
            <a:ext cx="4937759" cy="84124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Rates its own attacks favorably (documented in adversarial ML literature)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593592"/>
            <a:ext cx="64008" cy="64008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465576"/>
            <a:ext cx="4937759" cy="84124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Pipeline collapses under feedback: no route for mutation-and-retry without human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343399"/>
            <a:ext cx="64008" cy="64008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215383"/>
            <a:ext cx="4937759" cy="84124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Cannot reallocate effort across attack categories as coverage gaps shift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5093207"/>
            <a:ext cx="64008" cy="64008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965192"/>
            <a:ext cx="4937759" cy="84124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A clever attack + favorable self-evaluation = false confidence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35040" y="1280160"/>
            <a:ext cx="5760720" cy="5212080"/>
          </a:xfrm>
          <a:prstGeom prst="rect">
            <a:avLst/>
          </a:prstGeom>
          <a:solidFill>
            <a:srgbClr val="1A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035040" y="1280160"/>
            <a:ext cx="5760720" cy="64008"/>
          </a:xfrm>
          <a:prstGeom prst="rect">
            <a:avLst/>
          </a:prstGeom>
          <a:solidFill>
            <a:srgbClr val="51C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17920" y="1417320"/>
            <a:ext cx="5394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 i="0">
                <a:solidFill>
                  <a:srgbClr val="51CF66"/>
                </a:solidFill>
              </a:rPr>
              <a:t>Multi-Agent  —  What it solves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0" y="2093976"/>
            <a:ext cx="64008" cy="64008"/>
          </a:xfrm>
          <a:prstGeom prst="rect">
            <a:avLst/>
          </a:prstGeom>
          <a:solidFill>
            <a:srgbClr val="51C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1965960"/>
            <a:ext cx="5303520" cy="84124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Judge is structurally isolated — separate invocation, no shared state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17920" y="2843784"/>
            <a:ext cx="64008" cy="64008"/>
          </a:xfrm>
          <a:prstGeom prst="rect">
            <a:avLst/>
          </a:prstGeom>
          <a:solidFill>
            <a:srgbClr val="51C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2715768"/>
            <a:ext cx="5303520" cy="84124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Red Team's context never touches the Judge's context window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17920" y="3593592"/>
            <a:ext cx="64008" cy="64008"/>
          </a:xfrm>
          <a:prstGeom prst="rect">
            <a:avLst/>
          </a:prstGeom>
          <a:solidFill>
            <a:srgbClr val="51C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0" y="3465576"/>
            <a:ext cx="5303520" cy="84124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Cyclic graph enables mutation feedback without human intervention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17920" y="4343399"/>
            <a:ext cx="64008" cy="64008"/>
          </a:xfrm>
          <a:prstGeom prst="rect">
            <a:avLst/>
          </a:prstGeom>
          <a:solidFill>
            <a:srgbClr val="51C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4215383"/>
            <a:ext cx="5303520" cy="84124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Orchestrator dynamically reallocates effort based on coverage gaps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17920" y="5093207"/>
            <a:ext cx="64008" cy="64008"/>
          </a:xfrm>
          <a:prstGeom prst="rect">
            <a:avLst/>
          </a:prstGeom>
          <a:solidFill>
            <a:srgbClr val="51C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0" y="4965192"/>
            <a:ext cx="5303520" cy="84124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Each agent has a bounded role, a trust level, and a failure mode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28016"/>
            <a:ext cx="7315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 i="0">
                <a:solidFill>
                  <a:srgbClr val="4A9EFF"/>
                </a:solidFill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28016"/>
            <a:ext cx="2377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B0C4DE"/>
                </a:solidFill>
              </a:rPr>
              <a:t>May 11,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11480"/>
            <a:ext cx="8229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Multi-Agent Coordination Loop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00584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</a:rPr>
              <a:t>ORC → RT → Judge  is the core cyclic loop. Partial verdicts feed back to Red Team for mutation.
All agents emit traces to Langfuse. Orchestrator reads SQLite at every coordination cycle.</a:t>
            </a:r>
          </a:p>
        </p:txBody>
      </p:sp>
      <p:pic>
        <p:nvPicPr>
          <p:cNvPr id="7" name="Picture 6" descr="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600200"/>
            <a:ext cx="11430000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FFD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28016"/>
            <a:ext cx="7315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 i="0">
                <a:solidFill>
                  <a:srgbClr val="4A9EFF"/>
                </a:solidFill>
              </a:rPr>
              <a:t>THE FOUR AGENTS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28016"/>
            <a:ext cx="2377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B0C4DE"/>
                </a:solidFill>
              </a:rPr>
              <a:t>May 11,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11480"/>
            <a:ext cx="114300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Distinct roles · distinct models · distinct trust levels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43000"/>
            <a:ext cx="5669280" cy="2697480"/>
          </a:xfrm>
          <a:prstGeom prst="rect">
            <a:avLst/>
          </a:prstGeom>
          <a:solidFill>
            <a:srgbClr val="1A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143000"/>
            <a:ext cx="5669280" cy="54864"/>
          </a:xfrm>
          <a:prstGeom prst="rect">
            <a:avLst/>
          </a:prstGeom>
          <a:solidFill>
            <a:srgbClr val="FFD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79" y="1234440"/>
            <a:ext cx="32004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 i="0">
                <a:solidFill>
                  <a:srgbClr val="FFD43B"/>
                </a:solidFill>
              </a:rPr>
              <a:t>Orchestrator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79" y="1618488"/>
            <a:ext cx="53035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</a:rPr>
              <a:t>Model: Claude Sonnet 4.6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79" y="1892807"/>
            <a:ext cx="1828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51CF66"/>
                </a:solidFill>
              </a:rPr>
              <a:t>Trust: High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" y="2313432"/>
            <a:ext cx="54864" cy="54864"/>
          </a:xfrm>
          <a:prstGeom prst="rect">
            <a:avLst/>
          </a:prstGeom>
          <a:solidFill>
            <a:srgbClr val="FFD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" y="2185415"/>
            <a:ext cx="5166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Reads SQLite coverage gaps → assigns attack categories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8912" y="2606039"/>
            <a:ext cx="54864" cy="54864"/>
          </a:xfrm>
          <a:prstGeom prst="rect">
            <a:avLst/>
          </a:prstGeom>
          <a:solidFill>
            <a:srgbClr val="FFD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" y="2478023"/>
            <a:ext cx="5166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Manages token budget; halts if cost accumulates without signal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8912" y="2898648"/>
            <a:ext cx="54864" cy="54864"/>
          </a:xfrm>
          <a:prstGeom prst="rect">
            <a:avLst/>
          </a:prstGeom>
          <a:solidFill>
            <a:srgbClr val="FFD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" y="2770632"/>
            <a:ext cx="5166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Triggers regression runs on deploy events or time windows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8912" y="3191256"/>
            <a:ext cx="54864" cy="54864"/>
          </a:xfrm>
          <a:prstGeom prst="rect">
            <a:avLst/>
          </a:prstGeom>
          <a:solidFill>
            <a:srgbClr val="FFD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" y="3063239"/>
            <a:ext cx="5166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Dispatches canary cases to detect Judge drift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8912" y="3483864"/>
            <a:ext cx="54864" cy="54864"/>
          </a:xfrm>
          <a:prstGeom prst="rect">
            <a:avLst/>
          </a:prstGeom>
          <a:solidFill>
            <a:srgbClr val="FFD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1792" y="3355848"/>
            <a:ext cx="5166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Does NOT generate attacks or produce verdicts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72200" y="1143000"/>
            <a:ext cx="5669280" cy="2697480"/>
          </a:xfrm>
          <a:prstGeom prst="rect">
            <a:avLst/>
          </a:prstGeom>
          <a:solidFill>
            <a:srgbClr val="1A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72200" y="1143000"/>
            <a:ext cx="5669280" cy="54864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09360" y="1234440"/>
            <a:ext cx="32004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 i="0">
                <a:solidFill>
                  <a:srgbClr val="FF6B6B"/>
                </a:solidFill>
              </a:rPr>
              <a:t>Red Team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1618488"/>
            <a:ext cx="53035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</a:rPr>
              <a:t>Model: Qwen2.5:32b  /  local Ollama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1892807"/>
            <a:ext cx="1828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FF6B6B"/>
                </a:solidFill>
              </a:rPr>
              <a:t>Trust: Low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36792" y="2313432"/>
            <a:ext cx="54864" cy="54864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19672" y="2185415"/>
            <a:ext cx="5166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Generates &amp; mutates adversarial inputs — single + multi-turn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36792" y="2606039"/>
            <a:ext cx="54864" cy="54864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19672" y="2478023"/>
            <a:ext cx="5166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Only agent that touches the external HTTP interface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36792" y="2898648"/>
            <a:ext cx="54864" cy="54864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19672" y="2770632"/>
            <a:ext cx="5166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Local Ollama: zero cost, no rate limits, no safety refusals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36792" y="3191256"/>
            <a:ext cx="54864" cy="54864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19672" y="3063239"/>
            <a:ext cx="5166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Receives mutation feedback from Judge on partial successes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36792" y="3483864"/>
            <a:ext cx="54864" cy="54864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19672" y="3355848"/>
            <a:ext cx="5166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Cannot write to SQLite or invoke Documentation Agent directly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4320" y="3977639"/>
            <a:ext cx="5669280" cy="2697480"/>
          </a:xfrm>
          <a:prstGeom prst="rect">
            <a:avLst/>
          </a:prstGeom>
          <a:solidFill>
            <a:srgbClr val="1A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74320" y="3977639"/>
            <a:ext cx="5669280" cy="54864"/>
          </a:xfrm>
          <a:prstGeom prst="rect">
            <a:avLst/>
          </a:prstGeom>
          <a:solidFill>
            <a:srgbClr val="51C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11479" y="4069079"/>
            <a:ext cx="32004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 i="0">
                <a:solidFill>
                  <a:srgbClr val="51CF66"/>
                </a:solidFill>
              </a:rPr>
              <a:t>Judge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11479" y="4453127"/>
            <a:ext cx="53035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</a:rPr>
              <a:t>Model: Claude Sonnet 4.6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11479" y="4727448"/>
            <a:ext cx="1828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51CF66"/>
                </a:solidFill>
              </a:rPr>
              <a:t>Trust: High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38912" y="5148071"/>
            <a:ext cx="54864" cy="54864"/>
          </a:xfrm>
          <a:prstGeom prst="rect">
            <a:avLst/>
          </a:prstGeom>
          <a:solidFill>
            <a:srgbClr val="51C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1792" y="5020055"/>
            <a:ext cx="5166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Structurally isolated from Red Team — no shared context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38912" y="5440679"/>
            <a:ext cx="54864" cy="54864"/>
          </a:xfrm>
          <a:prstGeom prst="rect">
            <a:avLst/>
          </a:prstGeom>
          <a:solidFill>
            <a:srgbClr val="51C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21792" y="5312664"/>
            <a:ext cx="5166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Verdicts: success / partial / failure / uncertain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38912" y="5733287"/>
            <a:ext cx="54864" cy="54864"/>
          </a:xfrm>
          <a:prstGeom prst="rect">
            <a:avLst/>
          </a:prstGeom>
          <a:solidFill>
            <a:srgbClr val="51C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21792" y="5605271"/>
            <a:ext cx="5166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Versioned rubric stored in SQLite alongside every verdict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38912" y="6025895"/>
            <a:ext cx="54864" cy="54864"/>
          </a:xfrm>
          <a:prstGeom prst="rect">
            <a:avLst/>
          </a:prstGeom>
          <a:solidFill>
            <a:srgbClr val="51C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21792" y="5897879"/>
            <a:ext cx="5166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Canary injection detects Judge drift over time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38912" y="6318503"/>
            <a:ext cx="54864" cy="54864"/>
          </a:xfrm>
          <a:prstGeom prst="rect">
            <a:avLst/>
          </a:prstGeom>
          <a:solidFill>
            <a:srgbClr val="51C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21792" y="6190488"/>
            <a:ext cx="5166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Uncertain verdicts escalate to human — never auto-filed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172200" y="3977639"/>
            <a:ext cx="5669280" cy="2697480"/>
          </a:xfrm>
          <a:prstGeom prst="rect">
            <a:avLst/>
          </a:prstGeom>
          <a:solidFill>
            <a:srgbClr val="1A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172200" y="3977639"/>
            <a:ext cx="5669280" cy="54864"/>
          </a:xfrm>
          <a:prstGeom prst="rect">
            <a:avLst/>
          </a:prstGeom>
          <a:solidFill>
            <a:srgbClr val="74C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309360" y="4069079"/>
            <a:ext cx="32004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 i="0">
                <a:solidFill>
                  <a:srgbClr val="74C0FC"/>
                </a:solidFill>
              </a:rPr>
              <a:t>Documentation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309360" y="4453127"/>
            <a:ext cx="53035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</a:rPr>
              <a:t>Model: Claude Sonnet 4.6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309360" y="4727448"/>
            <a:ext cx="1828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FFD43B"/>
                </a:solidFill>
              </a:rPr>
              <a:t>Trust: Medium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336792" y="5148071"/>
            <a:ext cx="54864" cy="54864"/>
          </a:xfrm>
          <a:prstGeom prst="rect">
            <a:avLst/>
          </a:prstGeom>
          <a:solidFill>
            <a:srgbClr val="74C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519672" y="5020055"/>
            <a:ext cx="5166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Fires only on confirmed success verdict from Judge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336792" y="5440679"/>
            <a:ext cx="54864" cy="54864"/>
          </a:xfrm>
          <a:prstGeom prst="rect">
            <a:avLst/>
          </a:prstGeom>
          <a:solidFill>
            <a:srgbClr val="74C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519672" y="5312664"/>
            <a:ext cx="5166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Produces structured vuln reports: ID, severity, repro steps, remediation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336792" y="5733287"/>
            <a:ext cx="54864" cy="54864"/>
          </a:xfrm>
          <a:prstGeom prst="rect">
            <a:avLst/>
          </a:prstGeom>
          <a:solidFill>
            <a:srgbClr val="74C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519672" y="5605271"/>
            <a:ext cx="5166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Human approval gate for Critical severity (HIPAA obligation)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336792" y="6025895"/>
            <a:ext cx="54864" cy="54864"/>
          </a:xfrm>
          <a:prstGeom prst="rect">
            <a:avLst/>
          </a:prstGeom>
          <a:solidFill>
            <a:srgbClr val="74C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519672" y="5897879"/>
            <a:ext cx="5166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Auto-files High and below to avoid review fatigue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336792" y="6318503"/>
            <a:ext cx="54864" cy="54864"/>
          </a:xfrm>
          <a:prstGeom prst="rect">
            <a:avLst/>
          </a:prstGeom>
          <a:solidFill>
            <a:srgbClr val="74C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519672" y="6190488"/>
            <a:ext cx="5166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Cannot initiate attacks or override verdicts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51C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28016"/>
            <a:ext cx="7315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 i="0">
                <a:solidFill>
                  <a:srgbClr val="4A9EFF"/>
                </a:solidFill>
              </a:rPr>
              <a:t>JUDGE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28016"/>
            <a:ext cx="2377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B0C4DE"/>
                </a:solidFill>
              </a:rPr>
              <a:t>May 11,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11480"/>
            <a:ext cx="114300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Why Judge independence is mandatory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143000"/>
            <a:ext cx="6858000" cy="2468880"/>
          </a:xfrm>
          <a:prstGeom prst="rect">
            <a:avLst/>
          </a:prstGeom>
          <a:solidFill>
            <a:srgbClr val="1A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143000"/>
            <a:ext cx="6858000" cy="54864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252728"/>
            <a:ext cx="6583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 i="0">
                <a:solidFill>
                  <a:srgbClr val="FF6B6B"/>
                </a:solidFill>
              </a:rPr>
              <a:t>The self-serving bias problem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847088"/>
            <a:ext cx="64008" cy="64008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719072"/>
            <a:ext cx="6400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A model that generates attacks also evaluating them creates confirmation bias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322576"/>
            <a:ext cx="64008" cy="64008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194560"/>
            <a:ext cx="6400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Documented in adversarial ML literature — softmax priming favors own outputs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798064"/>
            <a:ext cx="64008" cy="64008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670048"/>
            <a:ext cx="6400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Structural isolation required: separate invocation, separate system prompt,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273552"/>
            <a:ext cx="64008" cy="64008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145536"/>
            <a:ext cx="6400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no access to Red Team's reasoning, no shared mutable state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749039"/>
            <a:ext cx="6858000" cy="2834640"/>
          </a:xfrm>
          <a:prstGeom prst="rect">
            <a:avLst/>
          </a:prstGeom>
          <a:solidFill>
            <a:srgbClr val="1A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5760" y="3749039"/>
            <a:ext cx="6858000" cy="54864"/>
          </a:xfrm>
          <a:prstGeom prst="rect">
            <a:avLst/>
          </a:prstGeom>
          <a:solidFill>
            <a:srgbClr val="51C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3858768"/>
            <a:ext cx="6583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 i="0">
                <a:solidFill>
                  <a:srgbClr val="51CF66"/>
                </a:solidFill>
              </a:rPr>
              <a:t>Canary injection — detecting Judge drift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471416"/>
            <a:ext cx="64008" cy="64008"/>
          </a:xfrm>
          <a:prstGeom prst="rect">
            <a:avLst/>
          </a:prstGeom>
          <a:solidFill>
            <a:srgbClr val="51C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4343400"/>
            <a:ext cx="6400800" cy="5212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Orchestrator periodically inserts ground-truth labeled cases into Judge queue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4901183"/>
            <a:ext cx="64008" cy="64008"/>
          </a:xfrm>
          <a:prstGeom prst="rect">
            <a:avLst/>
          </a:prstGeom>
          <a:solidFill>
            <a:srgbClr val="51C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4773168"/>
            <a:ext cx="6400800" cy="5212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If Judge verdicts deviate from ground truth above threshold →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5330951"/>
            <a:ext cx="64008" cy="64008"/>
          </a:xfrm>
          <a:prstGeom prst="rect">
            <a:avLst/>
          </a:prstGeom>
          <a:solidFill>
            <a:srgbClr val="51C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5202936"/>
            <a:ext cx="6400800" cy="5212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  'Judge drift' event fired; auto-filing suspended pending human review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5760720"/>
            <a:ext cx="64008" cy="64008"/>
          </a:xfrm>
          <a:prstGeom prst="rect">
            <a:avLst/>
          </a:prstGeom>
          <a:solidFill>
            <a:srgbClr val="51C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5632704"/>
            <a:ext cx="6400800" cy="5212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Rubric is versioned in SQLite — regressions from rubric changes are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6190488"/>
            <a:ext cx="64008" cy="64008"/>
          </a:xfrm>
          <a:prstGeom prst="rect">
            <a:avLst/>
          </a:prstGeom>
          <a:solidFill>
            <a:srgbClr val="51C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6062472"/>
            <a:ext cx="6400800" cy="5212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  distinguishable from regressions from target system changes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498079" y="1143000"/>
            <a:ext cx="4389120" cy="5440680"/>
          </a:xfrm>
          <a:prstGeom prst="rect">
            <a:avLst/>
          </a:prstGeom>
          <a:solidFill>
            <a:srgbClr val="1A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498079" y="1143000"/>
            <a:ext cx="4389120" cy="54864"/>
          </a:xfrm>
          <a:prstGeom prst="rect">
            <a:avLst/>
          </a:prstGeom>
          <a:solidFill>
            <a:srgbClr val="51C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680960" y="1252728"/>
            <a:ext cx="4023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 i="0">
                <a:solidFill>
                  <a:srgbClr val="51CF66"/>
                </a:solidFill>
              </a:rPr>
              <a:t>Verdict Taxonomy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635240" y="1783080"/>
            <a:ext cx="4114800" cy="987552"/>
          </a:xfrm>
          <a:prstGeom prst="rect">
            <a:avLst/>
          </a:prstGeom>
          <a:solidFill>
            <a:srgbClr val="142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635240" y="1783080"/>
            <a:ext cx="4114800" cy="45720"/>
          </a:xfrm>
          <a:prstGeom prst="rect">
            <a:avLst/>
          </a:prstGeom>
          <a:solidFill>
            <a:srgbClr val="51C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772400" y="1874519"/>
            <a:ext cx="3749039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51CF66"/>
                </a:solidFill>
              </a:rPr>
              <a:t>success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0" y="2221991"/>
            <a:ext cx="3749039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Attack achieved its objective → Documentation Agent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635240" y="2898648"/>
            <a:ext cx="4114800" cy="987552"/>
          </a:xfrm>
          <a:prstGeom prst="rect">
            <a:avLst/>
          </a:prstGeom>
          <a:solidFill>
            <a:srgbClr val="142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635240" y="2898648"/>
            <a:ext cx="4114800" cy="45720"/>
          </a:xfrm>
          <a:prstGeom prst="rect">
            <a:avLst/>
          </a:prstGeom>
          <a:solidFill>
            <a:srgbClr val="FFD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772400" y="2990088"/>
            <a:ext cx="3749039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FFD43B"/>
                </a:solidFill>
              </a:rPr>
              <a:t>partial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72400" y="3337560"/>
            <a:ext cx="3749039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Partial objective achieved → Red Team mutation cycle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635240" y="4014215"/>
            <a:ext cx="4114800" cy="987552"/>
          </a:xfrm>
          <a:prstGeom prst="rect">
            <a:avLst/>
          </a:prstGeom>
          <a:solidFill>
            <a:srgbClr val="142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635240" y="4014215"/>
            <a:ext cx="4114800" cy="45720"/>
          </a:xfrm>
          <a:prstGeom prst="rect">
            <a:avLst/>
          </a:prstGeom>
          <a:solidFill>
            <a:srgbClr val="B0C4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772400" y="4105655"/>
            <a:ext cx="3749039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B0C4DE"/>
                </a:solidFill>
              </a:rPr>
              <a:t>failure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772400" y="4453127"/>
            <a:ext cx="3749039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Target behaved correctly → record + update coverage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635240" y="5129784"/>
            <a:ext cx="4114800" cy="987552"/>
          </a:xfrm>
          <a:prstGeom prst="rect">
            <a:avLst/>
          </a:prstGeom>
          <a:solidFill>
            <a:srgbClr val="142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635240" y="5129784"/>
            <a:ext cx="4114800" cy="45720"/>
          </a:xfrm>
          <a:prstGeom prst="rect">
            <a:avLst/>
          </a:prstGeom>
          <a:solidFill>
            <a:srgbClr val="FF9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772400" y="5221224"/>
            <a:ext cx="3749039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FF922B"/>
                </a:solidFill>
              </a:rPr>
              <a:t>uncertain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772400" y="5568696"/>
            <a:ext cx="3749039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Judge cannot determine outcome → escalate to human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FF9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28016"/>
            <a:ext cx="7315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 i="0">
                <a:solidFill>
                  <a:srgbClr val="4A9EFF"/>
                </a:solidFill>
              </a:rPr>
              <a:t>HUMAN-IN-THE-LOOP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28016"/>
            <a:ext cx="2377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B0C4DE"/>
                </a:solidFill>
              </a:rPr>
              <a:t>May 11,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11480"/>
            <a:ext cx="114300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Two gates. Everything else runs autonomously.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00584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 i="1">
                <a:solidFill>
                  <a:srgbClr val="B0C4DE"/>
                </a:solidFill>
              </a:rPr>
              <a:t>Including overnight regression runs against the live target.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508760"/>
            <a:ext cx="5669280" cy="5029200"/>
          </a:xfrm>
          <a:prstGeom prst="rect">
            <a:avLst/>
          </a:prstGeom>
          <a:solidFill>
            <a:srgbClr val="1A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508760"/>
            <a:ext cx="5669280" cy="64008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627632"/>
            <a:ext cx="10972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B0C4DE"/>
                </a:solidFill>
              </a:rPr>
              <a:t>Gate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993392"/>
            <a:ext cx="5212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 i="0">
                <a:solidFill>
                  <a:srgbClr val="FF6B6B"/>
                </a:solidFill>
              </a:rPr>
              <a:t>Critical severity reports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615184"/>
            <a:ext cx="64008" cy="64008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487168"/>
            <a:ext cx="5120640" cy="4846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Documentation Agent holds the report before committing to SQLite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008376"/>
            <a:ext cx="64008" cy="64008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880360"/>
            <a:ext cx="5120640" cy="4846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A named human reviewer approves before the finding enters the regression suite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401568"/>
            <a:ext cx="64008" cy="64008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273552"/>
            <a:ext cx="5120640" cy="4846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Why: a Critical finding in a clinical system triggers downstream HIPAA obligations: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794759"/>
            <a:ext cx="64008" cy="64008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3666744"/>
            <a:ext cx="5120640" cy="4846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  breach notification assessment, vendor notification, potential workflow suspension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4187952"/>
            <a:ext cx="64008" cy="64008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4059936"/>
            <a:ext cx="5120640" cy="4846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These must NOT be initiated by an automated system without human confirmation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4581144"/>
            <a:ext cx="64008" cy="64008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4453128"/>
            <a:ext cx="5120640" cy="4846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High and below are auto-filed — requiring approval at every tier creates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4974336"/>
            <a:ext cx="64008" cy="64008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4846320"/>
            <a:ext cx="5120640" cy="4846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  review fatigue and incentivizes under-classification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1508760"/>
            <a:ext cx="5669280" cy="5029200"/>
          </a:xfrm>
          <a:prstGeom prst="rect">
            <a:avLst/>
          </a:prstGeom>
          <a:solidFill>
            <a:srgbClr val="1A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17920" y="1508760"/>
            <a:ext cx="5669280" cy="64008"/>
          </a:xfrm>
          <a:prstGeom prst="rect">
            <a:avLst/>
          </a:prstGeom>
          <a:solidFill>
            <a:srgbClr val="FFD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0" y="1627632"/>
            <a:ext cx="10972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B0C4DE"/>
                </a:solidFill>
              </a:rPr>
              <a:t>Gate 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1993392"/>
            <a:ext cx="5212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 i="0">
                <a:solidFill>
                  <a:srgbClr val="FFD43B"/>
                </a:solidFill>
              </a:rPr>
              <a:t>Uncertain verdicts from Judge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0" y="2615184"/>
            <a:ext cx="64008" cy="64008"/>
          </a:xfrm>
          <a:prstGeom prst="rect">
            <a:avLst/>
          </a:prstGeom>
          <a:solidFill>
            <a:srgbClr val="FFD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83680" y="2487168"/>
            <a:ext cx="5120640" cy="4846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When Judge cannot determine success vs. failure with sufficient confidence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0" y="3008376"/>
            <a:ext cx="64008" cy="64008"/>
          </a:xfrm>
          <a:prstGeom prst="rect">
            <a:avLst/>
          </a:prstGeom>
          <a:solidFill>
            <a:srgbClr val="FFD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3680" y="2880360"/>
            <a:ext cx="5120640" cy="4846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Case is queued for human review with full attack record attached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0" y="3401568"/>
            <a:ext cx="64008" cy="64008"/>
          </a:xfrm>
          <a:prstGeom prst="rect">
            <a:avLst/>
          </a:prstGeom>
          <a:solidFill>
            <a:srgbClr val="FFD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83680" y="3273552"/>
            <a:ext cx="5120640" cy="4846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Judge does NOT guess — it escalates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0" y="3794759"/>
            <a:ext cx="64008" cy="64008"/>
          </a:xfrm>
          <a:prstGeom prst="rect">
            <a:avLst/>
          </a:prstGeom>
          <a:solidFill>
            <a:srgbClr val="FFD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83680" y="3666744"/>
            <a:ext cx="5120640" cy="4846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Why: a wrong Judge verdict is worse than no verdict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0" y="4187952"/>
            <a:ext cx="64008" cy="64008"/>
          </a:xfrm>
          <a:prstGeom prst="rect">
            <a:avLst/>
          </a:prstGeom>
          <a:solidFill>
            <a:srgbClr val="FFD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83680" y="4059936"/>
            <a:ext cx="5120640" cy="4846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  A false positive wastes engineering time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00800" y="4581144"/>
            <a:ext cx="64008" cy="64008"/>
          </a:xfrm>
          <a:prstGeom prst="rect">
            <a:avLst/>
          </a:prstGeom>
          <a:solidFill>
            <a:srgbClr val="FFD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583680" y="4453128"/>
            <a:ext cx="5120640" cy="4846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  A false negative leaves a real vulnerability unfiled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00800" y="4974336"/>
            <a:ext cx="64008" cy="64008"/>
          </a:xfrm>
          <a:prstGeom prst="rect">
            <a:avLst/>
          </a:prstGeom>
          <a:solidFill>
            <a:srgbClr val="FFD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583680" y="4846320"/>
            <a:ext cx="5120640" cy="4846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Uncertain rate is tracked in Langfuse — if it spikes, rubric needs updating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74C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28016"/>
            <a:ext cx="7315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 i="0">
                <a:solidFill>
                  <a:srgbClr val="4A9EFF"/>
                </a:solidFill>
              </a:rPr>
              <a:t>AI VS. DETERMINISTIC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28016"/>
            <a:ext cx="2377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B0C4DE"/>
                </a:solidFill>
              </a:rPr>
              <a:t>May 11,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11480"/>
            <a:ext cx="114300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Right tool for each function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11658600" cy="475488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1261872"/>
            <a:ext cx="3456432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74C0FC"/>
                </a:solidFill>
              </a:rPr>
              <a:t>Function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96512" y="1261872"/>
            <a:ext cx="3273552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74C0FC"/>
                </a:solidFill>
              </a:rPr>
              <a:t>AI or Deterministic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71231" y="1261872"/>
            <a:ext cx="4599432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74C0FC"/>
                </a:solidFill>
              </a:rPr>
              <a:t>Rationale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691640"/>
            <a:ext cx="11658600" cy="475488"/>
          </a:xfrm>
          <a:prstGeom prst="rect">
            <a:avLst/>
          </a:prstGeom>
          <a:solidFill>
            <a:srgbClr val="142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" y="1764792"/>
            <a:ext cx="3456432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Coverage gap analysis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96512" y="1764792"/>
            <a:ext cx="3273552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AI (Claude — Orchestrator)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71231" y="1764792"/>
            <a:ext cx="4599432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FFD43B"/>
                </a:solidFill>
              </a:rPr>
              <a:t>Weighs multiple signals vs. strategic priorities — not a rule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194560"/>
            <a:ext cx="11658600" cy="475488"/>
          </a:xfrm>
          <a:prstGeom prst="rect">
            <a:avLst/>
          </a:prstGeom>
          <a:solidFill>
            <a:srgbClr val="1A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2" y="2267712"/>
            <a:ext cx="3456432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Attack template library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96512" y="2267712"/>
            <a:ext cx="3273552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Deterministic (JSON)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71231" y="2267712"/>
            <a:ext cx="4599432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FFD43B"/>
                </a:solidFill>
              </a:rPr>
              <a:t>Seeds must be reproducible for regression; nondeterminism hurts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697480"/>
            <a:ext cx="11658600" cy="475488"/>
          </a:xfrm>
          <a:prstGeom prst="rect">
            <a:avLst/>
          </a:prstGeom>
          <a:solidFill>
            <a:srgbClr val="142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8912" y="2770632"/>
            <a:ext cx="3456432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Attack mutation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96512" y="2770632"/>
            <a:ext cx="3273552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AI (Qwen2.5 — Red Team)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71231" y="2770632"/>
            <a:ext cx="4599432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FFD43B"/>
                </a:solidFill>
              </a:rPr>
              <a:t>Requires semantic understanding of why a partial attack worked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3200400"/>
            <a:ext cx="11658600" cy="475488"/>
          </a:xfrm>
          <a:prstGeom prst="rect">
            <a:avLst/>
          </a:prstGeom>
          <a:solidFill>
            <a:srgbClr val="1A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8912" y="3273552"/>
            <a:ext cx="3456432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Multi-turn HTTP execution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96512" y="3273552"/>
            <a:ext cx="3273552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Deterministic (httpx)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71231" y="3273552"/>
            <a:ext cx="4599432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FFD43B"/>
                </a:solidFill>
              </a:rPr>
              <a:t>HTTP is a protocol — no reasoning needed to send a request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3703320"/>
            <a:ext cx="11658600" cy="475488"/>
          </a:xfrm>
          <a:prstGeom prst="rect">
            <a:avLst/>
          </a:prstGeom>
          <a:solidFill>
            <a:srgbClr val="142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8912" y="3776472"/>
            <a:ext cx="3456432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Verdict evaluation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096512" y="3776472"/>
            <a:ext cx="3273552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AI (Claude — Judge)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71231" y="3776472"/>
            <a:ext cx="4599432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FFD43B"/>
                </a:solidFill>
              </a:rPr>
              <a:t>Requires clinical context, semantic intent, harm potential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4206240"/>
            <a:ext cx="11658600" cy="475488"/>
          </a:xfrm>
          <a:prstGeom prst="rect">
            <a:avLst/>
          </a:prstGeom>
          <a:solidFill>
            <a:srgbClr val="1A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8912" y="4279392"/>
            <a:ext cx="3456432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Rubric version management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096512" y="4279392"/>
            <a:ext cx="3273552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Deterministic (SQLite)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71231" y="4279392"/>
            <a:ext cx="4599432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FFD43B"/>
                </a:solidFill>
              </a:rPr>
              <a:t>Schema change is a human decision; rubric must be stable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" y="4709160"/>
            <a:ext cx="11658600" cy="475488"/>
          </a:xfrm>
          <a:prstGeom prst="rect">
            <a:avLst/>
          </a:prstGeom>
          <a:solidFill>
            <a:srgbClr val="142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8912" y="4782312"/>
            <a:ext cx="3456432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Vulnerability report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096512" y="4782312"/>
            <a:ext cx="3273552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AI (Claude — Documentation)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71231" y="4782312"/>
            <a:ext cx="4599432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FFD43B"/>
                </a:solidFill>
              </a:rPr>
              <a:t>Clinical framing, impact analysis, remediation reasoning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65760" y="5212080"/>
            <a:ext cx="11658600" cy="475488"/>
          </a:xfrm>
          <a:prstGeom prst="rect">
            <a:avLst/>
          </a:prstGeom>
          <a:solidFill>
            <a:srgbClr val="1A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38912" y="5285232"/>
            <a:ext cx="3456432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Cost tracking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096512" y="5285232"/>
            <a:ext cx="3273552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Deterministic (ledger)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571231" y="5285232"/>
            <a:ext cx="4599432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FFD43B"/>
                </a:solidFill>
              </a:rPr>
              <a:t>Arithmetic — AI involvement would introduce error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5760" y="5715000"/>
            <a:ext cx="11658600" cy="475488"/>
          </a:xfrm>
          <a:prstGeom prst="rect">
            <a:avLst/>
          </a:prstGeom>
          <a:solidFill>
            <a:srgbClr val="142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38912" y="5788152"/>
            <a:ext cx="3456432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Canary insertion schedule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096512" y="5788152"/>
            <a:ext cx="3273552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Deterministic (Orchestrator)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571231" y="5788152"/>
            <a:ext cx="4599432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FFD43B"/>
                </a:solidFill>
              </a:rPr>
              <a:t>Must be predictable to detect drift reliably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65760" y="6217920"/>
            <a:ext cx="11658600" cy="475488"/>
          </a:xfrm>
          <a:prstGeom prst="rect">
            <a:avLst/>
          </a:prstGeom>
          <a:solidFill>
            <a:srgbClr val="1A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38912" y="6291072"/>
            <a:ext cx="3456432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Version delta (deploy)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096512" y="6291072"/>
            <a:ext cx="3273552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cleave diff (atomdrift)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571231" y="6291072"/>
            <a:ext cx="4599432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FFD43B"/>
                </a:solidFill>
              </a:rPr>
              <a:t>Binary capability extraction → deterministic regression trigger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65760" y="6492240"/>
            <a:ext cx="1143000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1">
                <a:solidFill>
                  <a:srgbClr val="B0C4DE"/>
                </a:solidFill>
              </a:rPr>
              <a:t>cleave (Apache-2.0) — deterministic capability extraction aligned to MITRE ATT&amp;CK. diff between deployments triggers regression without LLM cost.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FFD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28016"/>
            <a:ext cx="7315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 i="0">
                <a:solidFill>
                  <a:srgbClr val="4A9EFF"/>
                </a:solidFill>
              </a:rPr>
              <a:t>COST &amp; TRADEOFFS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28016"/>
            <a:ext cx="2377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B0C4DE"/>
                </a:solidFill>
              </a:rPr>
              <a:t>May 11,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11480"/>
            <a:ext cx="114300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Cost at scale  ·  Known tradeoffs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005840"/>
            <a:ext cx="91440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B0C4DE"/>
                </a:solidFill>
              </a:rPr>
              <a:t>Per attack cycle (cloud mode): ~$0.01–0.02   ·   Red Team always $0 (local Ollama)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463040"/>
            <a:ext cx="11292840" cy="539496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" y="1536192"/>
            <a:ext cx="23591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FFD43B"/>
                </a:solidFill>
              </a:rPr>
              <a:t>Scale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99232" y="1536192"/>
            <a:ext cx="181051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FFD43B"/>
                </a:solidFill>
              </a:rPr>
              <a:t>Est. Cost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10912" y="1536192"/>
            <a:ext cx="679399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FFD43B"/>
                </a:solidFill>
              </a:rPr>
              <a:t>Architectural note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029968"/>
            <a:ext cx="11292840" cy="539496"/>
          </a:xfrm>
          <a:prstGeom prst="rect">
            <a:avLst/>
          </a:prstGeom>
          <a:solidFill>
            <a:srgbClr val="142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2" y="2103120"/>
            <a:ext cx="23591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100 runs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99232" y="2103120"/>
            <a:ext cx="181051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~$1–2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10912" y="2103120"/>
            <a:ext cx="679399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FFD43B"/>
                </a:solidFill>
              </a:rPr>
              <a:t>Single machine. No changes.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596896"/>
            <a:ext cx="11292840" cy="539496"/>
          </a:xfrm>
          <a:prstGeom prst="rect">
            <a:avLst/>
          </a:prstGeom>
          <a:solidFill>
            <a:srgbClr val="1A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8912" y="2670048"/>
            <a:ext cx="23591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1,000 runs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99232" y="2670048"/>
            <a:ext cx="181051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~$10–20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10912" y="2670048"/>
            <a:ext cx="679399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FFD43B"/>
                </a:solidFill>
              </a:rPr>
              <a:t>Async Judge queue to parallelise evaluation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3163824"/>
            <a:ext cx="11292840" cy="539496"/>
          </a:xfrm>
          <a:prstGeom prst="rect">
            <a:avLst/>
          </a:prstGeom>
          <a:solidFill>
            <a:srgbClr val="142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8912" y="3236976"/>
            <a:ext cx="23591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10,000 runs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99232" y="3236976"/>
            <a:ext cx="181051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~$100–200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10912" y="3236976"/>
            <a:ext cx="679399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FFD43B"/>
                </a:solidFill>
              </a:rPr>
              <a:t>Swap Judge to Claude Haiku → 10× cheaper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3730752"/>
            <a:ext cx="11292840" cy="539496"/>
          </a:xfrm>
          <a:prstGeom prst="rect">
            <a:avLst/>
          </a:prstGeom>
          <a:solidFill>
            <a:srgbClr val="1A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8912" y="3803904"/>
            <a:ext cx="23591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100K runs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99232" y="3803904"/>
            <a:ext cx="181051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~$300–600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10912" y="3803904"/>
            <a:ext cx="679399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FFD43B"/>
                </a:solidFill>
              </a:rPr>
              <a:t>Fine-tune Judge on ground-truth verdicts; Groq for sub-second inference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4343400"/>
            <a:ext cx="11430000" cy="2331720"/>
          </a:xfrm>
          <a:prstGeom prst="rect">
            <a:avLst/>
          </a:prstGeom>
          <a:solidFill>
            <a:srgbClr val="1A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65760" y="4343400"/>
            <a:ext cx="11430000" cy="54864"/>
          </a:xfrm>
          <a:prstGeom prst="rect">
            <a:avLst/>
          </a:prstGeom>
          <a:solidFill>
            <a:srgbClr val="FF9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4453128"/>
            <a:ext cx="73152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FF922B"/>
                </a:solidFill>
              </a:rPr>
              <a:t>Known Tradeoffs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4983479"/>
            <a:ext cx="54864" cy="54864"/>
          </a:xfrm>
          <a:prstGeom prst="rect">
            <a:avLst/>
          </a:prstGeom>
          <a:solidFill>
            <a:srgbClr val="FF9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" y="489204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FF922B"/>
                </a:solidFill>
              </a:rPr>
              <a:t>Qwen2.5 vs. Claude for Red Team:  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63440" y="4892040"/>
            <a:ext cx="6949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Lower reasoning quality; compensated by iteration volume + mutation loop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2920" y="5321807"/>
            <a:ext cx="54864" cy="54864"/>
          </a:xfrm>
          <a:prstGeom prst="rect">
            <a:avLst/>
          </a:prstGeom>
          <a:solidFill>
            <a:srgbClr val="FF9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5800" y="5230368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FF922B"/>
                </a:solidFill>
              </a:rPr>
              <a:t>SQLite vs. managed DB:  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63440" y="5230368"/>
            <a:ext cx="6949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No infra overhead, easy audit; no concurrent write scale (acceptable here)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2920" y="5660136"/>
            <a:ext cx="54864" cy="54864"/>
          </a:xfrm>
          <a:prstGeom prst="rect">
            <a:avLst/>
          </a:prstGeom>
          <a:solidFill>
            <a:srgbClr val="FF9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85800" y="5568696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FF922B"/>
                </a:solidFill>
              </a:rPr>
              <a:t>Auto-file High and below:  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663440" y="5568696"/>
            <a:ext cx="6949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Reduces review fatigue; risk of a High being miscategorized without human review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2920" y="5998463"/>
            <a:ext cx="54864" cy="54864"/>
          </a:xfrm>
          <a:prstGeom prst="rect">
            <a:avLst/>
          </a:prstGeom>
          <a:solidFill>
            <a:srgbClr val="FF9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85800" y="5907023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FF922B"/>
                </a:solidFill>
              </a:rPr>
              <a:t>Black-box HTTP only:  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663440" y="5907023"/>
            <a:ext cx="6949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Realistic threat model; cannot test internal bypasses or DB-level vulns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02920" y="6336792"/>
            <a:ext cx="54864" cy="54864"/>
          </a:xfrm>
          <a:prstGeom prst="rect">
            <a:avLst/>
          </a:prstGeom>
          <a:solidFill>
            <a:srgbClr val="FF9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85800" y="6245352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FF922B"/>
                </a:solidFill>
              </a:rPr>
              <a:t>Local Ollama M1 64GB:  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663440" y="6245352"/>
            <a:ext cx="6949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Single-machine throughput; not designed for horizontal scale in this iteration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28016"/>
            <a:ext cx="7315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 i="0">
                <a:solidFill>
                  <a:srgbClr val="4A9EFF"/>
                </a:solidFill>
              </a:rPr>
              <a:t>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28016"/>
            <a:ext cx="2377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B0C4DE"/>
                </a:solidFill>
              </a:rPr>
              <a:t>May 11,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11480"/>
            <a:ext cx="114300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What it's built on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80160"/>
            <a:ext cx="11475720" cy="466344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1353312"/>
            <a:ext cx="437083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4A9EFF"/>
                </a:solidFill>
              </a:rPr>
              <a:t>Agent framework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10912" y="1353312"/>
            <a:ext cx="688543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4A9EFF"/>
                </a:solidFill>
              </a:rPr>
              <a:t>LangGraph (Python)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773936"/>
            <a:ext cx="11475720" cy="466344"/>
          </a:xfrm>
          <a:prstGeom prst="rect">
            <a:avLst/>
          </a:prstGeom>
          <a:solidFill>
            <a:srgbClr val="142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" y="1847088"/>
            <a:ext cx="437083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Red Team model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10912" y="1847088"/>
            <a:ext cx="688543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FFD43B"/>
                </a:solidFill>
              </a:rPr>
              <a:t>Qwen2.5:32b via Ollama  —  local, zero cost, no refusals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267712"/>
            <a:ext cx="11475720" cy="466344"/>
          </a:xfrm>
          <a:prstGeom prst="rect">
            <a:avLst/>
          </a:prstGeom>
          <a:solidFill>
            <a:srgbClr val="1A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" y="2340864"/>
            <a:ext cx="437083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Orchestrator / Judge / Docs model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10912" y="2340864"/>
            <a:ext cx="688543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FFD43B"/>
                </a:solidFill>
              </a:rPr>
              <a:t>Claude Sonnet 4.6  (Anthropic API)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761488"/>
            <a:ext cx="11475720" cy="466344"/>
          </a:xfrm>
          <a:prstGeom prst="rect">
            <a:avLst/>
          </a:prstGeom>
          <a:solidFill>
            <a:srgbClr val="142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8912" y="2834640"/>
            <a:ext cx="437083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Inter-agent messaging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10912" y="2834640"/>
            <a:ext cx="688543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FFD43B"/>
                </a:solidFill>
              </a:rPr>
              <a:t>Pydantic-typed schemas over LangGraph edges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255264"/>
            <a:ext cx="11475720" cy="466344"/>
          </a:xfrm>
          <a:prstGeom prst="rect">
            <a:avLst/>
          </a:prstGeom>
          <a:solidFill>
            <a:srgbClr val="1A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8912" y="3328416"/>
            <a:ext cx="437083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Persistence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10912" y="3328416"/>
            <a:ext cx="688543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FFD43B"/>
                </a:solidFill>
              </a:rPr>
              <a:t>SQLite  —  versioned, queryable, auditable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749039"/>
            <a:ext cx="11475720" cy="466344"/>
          </a:xfrm>
          <a:prstGeom prst="rect">
            <a:avLst/>
          </a:prstGeom>
          <a:solidFill>
            <a:srgbClr val="142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8912" y="3822191"/>
            <a:ext cx="437083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Observability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10912" y="3822191"/>
            <a:ext cx="688543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FFD43B"/>
                </a:solidFill>
              </a:rPr>
              <a:t>Langfuse  —  self-hosted, no data egress, per-agent cost tracking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4242816"/>
            <a:ext cx="11475720" cy="466344"/>
          </a:xfrm>
          <a:prstGeom prst="rect">
            <a:avLst/>
          </a:prstGeom>
          <a:solidFill>
            <a:srgbClr val="1A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8912" y="4315968"/>
            <a:ext cx="437083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Target interface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10912" y="4315968"/>
            <a:ext cx="688543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FFD43B"/>
                </a:solidFill>
              </a:rPr>
              <a:t>HTTP (httpx)  —  same interface a physician's browser uses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4736592"/>
            <a:ext cx="11475720" cy="466344"/>
          </a:xfrm>
          <a:prstGeom prst="rect">
            <a:avLst/>
          </a:prstGeom>
          <a:solidFill>
            <a:srgbClr val="142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8912" y="4809744"/>
            <a:ext cx="437083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Version delta / regression trigger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10912" y="4809744"/>
            <a:ext cx="688543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FFD43B"/>
                </a:solidFill>
              </a:rPr>
              <a:t>cleave diff  (atomdrift, Apache-2.0, MITRE ATT&amp;CK aligned)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5230368"/>
            <a:ext cx="11475720" cy="466344"/>
          </a:xfrm>
          <a:prstGeom prst="rect">
            <a:avLst/>
          </a:prstGeom>
          <a:solidFill>
            <a:srgbClr val="1A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8912" y="5303520"/>
            <a:ext cx="437083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Language / runtime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10912" y="5303520"/>
            <a:ext cx="688543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FFD43B"/>
                </a:solidFill>
              </a:rPr>
              <a:t>Python 3.14  ·  M1 Mac 64GB RAM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5724144"/>
            <a:ext cx="11475720" cy="466344"/>
          </a:xfrm>
          <a:prstGeom prst="rect">
            <a:avLst/>
          </a:prstGeom>
          <a:solidFill>
            <a:srgbClr val="142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38912" y="5797296"/>
            <a:ext cx="437083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Deployment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10912" y="5797296"/>
            <a:ext cx="688543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FFD43B"/>
                </a:solidFill>
              </a:rPr>
              <a:t>Standalone platform  —  fires against clinicalcopilot.org over HTTPS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114300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1">
                <a:solidFill>
                  <a:srgbClr val="B0C4DE"/>
                </a:solidFill>
              </a:rPr>
              <a:t>AgentForge runs outside OpenEMR's codebase. No privileged access. No internal hooks. Tests exactly what an adversary sees.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